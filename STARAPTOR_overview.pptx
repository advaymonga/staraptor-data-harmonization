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0232" y="1997839"/>
            <a:ext cx="109515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solidFill>
                  <a:srgbClr val="444444"/>
                </a:solidFill>
              </a:rPr>
              <a:t>Cross-Site Harmonization for Kidney Transplant Outcome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2D52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444444"/>
                </a:solidFill>
              </a:rPr>
              <a:t>• Donor renal biopsy whole-slide images (WSIs) yield quantitative </a:t>
            </a:r>
            <a:r>
              <a:rPr sz="2000" dirty="0" err="1">
                <a:solidFill>
                  <a:srgbClr val="444444"/>
                </a:solidFill>
              </a:rPr>
              <a:t>pathomics</a:t>
            </a:r>
            <a:r>
              <a:rPr sz="2000" dirty="0">
                <a:solidFill>
                  <a:srgbClr val="444444"/>
                </a:solidFill>
              </a:rPr>
              <a:t> features that can predict transplant outcomes.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444444"/>
                </a:solidFill>
              </a:rPr>
              <a:t>• Data is collected across multiple clinical sites </a:t>
            </a:r>
            <a:r>
              <a:rPr lang="en-US" sz="2000" dirty="0">
                <a:solidFill>
                  <a:srgbClr val="444444"/>
                </a:solidFill>
              </a:rPr>
              <a:t>(</a:t>
            </a:r>
            <a:r>
              <a:rPr sz="2000" dirty="0">
                <a:solidFill>
                  <a:srgbClr val="444444"/>
                </a:solidFill>
              </a:rPr>
              <a:t> UC Davis, Coimbra, Mayo Clinic </a:t>
            </a:r>
            <a:r>
              <a:rPr lang="en-US" sz="2000" dirty="0">
                <a:solidFill>
                  <a:srgbClr val="444444"/>
                </a:solidFill>
              </a:rPr>
              <a:t>)</a:t>
            </a:r>
            <a:r>
              <a:rPr sz="2000" dirty="0">
                <a:solidFill>
                  <a:srgbClr val="444444"/>
                </a:solidFill>
              </a:rPr>
              <a:t> each with different scanners, tissue processing, and staining protocols.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444444"/>
                </a:solidFill>
              </a:rPr>
              <a:t>• These site-level differences create batch effects that confound features and degrade model generalization across institutions.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444444"/>
                </a:solidFill>
              </a:rPr>
              <a:t>• Models trained on one site often fail to transfer to another, limiting clinical utility of </a:t>
            </a:r>
            <a:r>
              <a:rPr sz="2000" dirty="0" err="1">
                <a:solidFill>
                  <a:srgbClr val="444444"/>
                </a:solidFill>
              </a:rPr>
              <a:t>pathomics</a:t>
            </a:r>
            <a:r>
              <a:rPr sz="2000" dirty="0">
                <a:solidFill>
                  <a:srgbClr val="444444"/>
                </a:solidFill>
              </a:rPr>
              <a:t>-based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B2D52"/>
                </a:solidFill>
              </a:rPr>
              <a:t>Methods</a:t>
            </a:r>
            <a:endParaRPr sz="3200" b="1" dirty="0">
              <a:solidFill>
                <a:srgbClr val="0B2D5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</a:rPr>
              <a:t>• Goal: build models that predict transplant outcomes and generalize across clinical sites.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</a:rPr>
              <a:t>• Outcomes: eGFR at 12 months (regression) and delayed graft function / DGF (binary classification).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</a:rPr>
              <a:t>• Approach: apply and compare batch harmonization methods (Z-Score, RAVEL, CORAL, CovBat, ComBat) before model training.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</a:rPr>
              <a:t>• Critical test: leave-one-out (LOO) cross-cohort validation — train on 2 sites, harmonize and evaluate on a held-out 3rd site, simulating deployment to a new institution.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</a:rPr>
              <a:t>• Models compared: Elastic Net, Lasso, Ridge, Random Forest, XGBoost.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2D52"/>
                </a:solidFill>
              </a:rPr>
              <a:t>LOO Cross-Cohort Performance</a:t>
            </a:r>
          </a:p>
        </p:txBody>
      </p:sp>
      <p:pic>
        <p:nvPicPr>
          <p:cNvPr id="3" name="Picture 2" descr="loo_avg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868680"/>
            <a:ext cx="11202305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LOO ComBat improves every model. Best: XGBoost — eGFR MSE 372, DGF AUC 0.829.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2D52"/>
                </a:solidFill>
              </a:rPr>
              <a:t>eGFR Per-Model Improvement — Two Baseline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Left: per-model baseline (each row labeled with its avg LOO Raw MSE). Right: skill score vs best LOO Raw model in each scenario (single shared baseline).</a:t>
            </a:r>
          </a:p>
        </p:txBody>
      </p:sp>
      <p:pic>
        <p:nvPicPr>
          <p:cNvPr id="5" name="Picture 4" descr="loo_improvement_heatmap_eGFR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42414"/>
            <a:ext cx="5715000" cy="4500000"/>
          </a:xfrm>
          <a:prstGeom prst="rect">
            <a:avLst/>
          </a:prstGeom>
        </p:spPr>
      </p:pic>
      <p:pic>
        <p:nvPicPr>
          <p:cNvPr id="6" name="Picture 5" descr="loo_improvement_heatmap_eGFR_skill_vs_best_r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42414"/>
            <a:ext cx="5715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B2D52"/>
                </a:solidFill>
              </a:rPr>
              <a:t>CKD Distribution</a:t>
            </a:r>
            <a:endParaRPr sz="3200" b="1" dirty="0">
              <a:solidFill>
                <a:srgbClr val="0B2D52"/>
              </a:solidFill>
            </a:endParaRPr>
          </a:p>
        </p:txBody>
      </p:sp>
      <p:pic>
        <p:nvPicPr>
          <p:cNvPr id="3" name="Picture 2" descr="ckd_st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6" y="1005840"/>
            <a:ext cx="12063881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Distribution of CKD stages across UC Davis, Coimbra, and Mayo Clinic cohorts.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6302B-F81D-F624-6826-F7322546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A0CEC6-AA0D-2B49-C2CB-080941A68E3C}"/>
              </a:ext>
            </a:extLst>
          </p:cNvPr>
          <p:cNvSpPr txBox="1"/>
          <p:nvPr/>
        </p:nvSpPr>
        <p:spPr>
          <a:xfrm>
            <a:off x="457200" y="274320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B2D52"/>
                </a:solidFill>
              </a:rPr>
              <a:t>Feature Importance</a:t>
            </a:r>
            <a:endParaRPr sz="3200" b="1" dirty="0">
              <a:solidFill>
                <a:srgbClr val="0B2D52"/>
              </a:solidFill>
            </a:endParaRPr>
          </a:p>
        </p:txBody>
      </p:sp>
      <p:pic>
        <p:nvPicPr>
          <p:cNvPr id="5" name="Picture 4" descr="A graph and a chart&#10;&#10;AI-generated content may be incorrect.">
            <a:extLst>
              <a:ext uri="{FF2B5EF4-FFF2-40B4-BE49-F238E27FC236}">
                <a16:creationId xmlns:a16="http://schemas.microsoft.com/office/drawing/2014/main" id="{FB44B20E-E982-EBCA-01C5-A245C2669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46" y="961436"/>
            <a:ext cx="11323674" cy="562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04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265</Words>
  <Application>Microsoft Macintosh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Advay Monga</cp:lastModifiedBy>
  <cp:revision>2</cp:revision>
  <dcterms:created xsi:type="dcterms:W3CDTF">2013-01-27T09:14:16Z</dcterms:created>
  <dcterms:modified xsi:type="dcterms:W3CDTF">2026-05-03T20:48:52Z</dcterms:modified>
  <cp:category/>
</cp:coreProperties>
</file>